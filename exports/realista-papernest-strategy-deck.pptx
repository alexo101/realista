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8FC5"/>
          </a:solidFill>
          <a:ln w="12700">
            <a:solidFill>
              <a:srgbClr val="0F8FC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"/>
            <a:ext cx="201168" cy="201168"/>
          </a:xfrm>
          <a:prstGeom prst="actionButtonHome">
            <a:avLst/>
          </a:prstGeom>
          <a:solidFill>
            <a:srgbClr val="0F8FC5"/>
          </a:solidFill>
          <a:ln w="12700">
            <a:solidFill>
              <a:srgbClr val="0F8F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228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38360" y="256032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38360" y="2606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STRATEGY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13385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Realista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5669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Operating System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Real Estate Agencies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lead management to home services in one platform.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platform thesis for Papernest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32704" y="914400"/>
            <a:ext cx="5943600" cy="414223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0160">
            <a:solidFill>
              <a:srgbClr val="EAF6FB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11" name="Image 0" descr="/home/runner/workspace/exports/realista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950976"/>
            <a:ext cx="5870448" cy="40690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97880" y="5285232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62472" y="5312664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workspace. One customer journey.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THE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Agencies run on a patchwork of tools.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handoff creates friction—and every disconnected system loses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32104" y="21396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579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08483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32304" y="21396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88920" y="21579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08483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32504" y="21396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A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0" y="215798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86207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" y="291693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9352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86207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32304" y="291693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5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✉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88920" y="29352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2862072"/>
            <a:ext cx="132588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32504" y="291693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F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389120" y="29352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3822192"/>
            <a:ext cx="1069848" cy="0"/>
          </a:xfrm>
          <a:prstGeom prst="line">
            <a:avLst/>
          </a:prstGeom>
          <a:noFill/>
          <a:ln w="2794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18304" y="3822192"/>
            <a:ext cx="1078992" cy="0"/>
          </a:xfrm>
          <a:prstGeom prst="line">
            <a:avLst/>
          </a:prstGeom>
          <a:noFill/>
          <a:ln w="2794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14032" y="3822192"/>
            <a:ext cx="1069848" cy="0"/>
          </a:xfrm>
          <a:prstGeom prst="line">
            <a:avLst/>
          </a:prstGeom>
          <a:noFill/>
          <a:ln w="2794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834640" y="3511296"/>
            <a:ext cx="1874520" cy="621792"/>
          </a:xfrm>
          <a:prstGeom prst="roundRect">
            <a:avLst>
              <a:gd name="adj" fmla="val 17647"/>
            </a:avLst>
          </a:prstGeom>
          <a:solidFill>
            <a:srgbClr val="EAF6FB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Lost productivity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30368" y="3511296"/>
            <a:ext cx="1874520" cy="621792"/>
          </a:xfrm>
          <a:prstGeom prst="roundRect">
            <a:avLst>
              <a:gd name="adj" fmla="val 17647"/>
            </a:avLst>
          </a:prstGeom>
          <a:solidFill>
            <a:srgbClr val="EAF6FB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1808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collaboration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6096" y="3511296"/>
            <a:ext cx="1874520" cy="621792"/>
          </a:xfrm>
          <a:prstGeom prst="roundRect">
            <a:avLst>
              <a:gd name="adj" fmla="val 17647"/>
            </a:avLst>
          </a:prstGeom>
          <a:solidFill>
            <a:srgbClr val="FFF4DF"/>
          </a:solidFill>
          <a:ln w="10160">
            <a:solidFill>
              <a:srgbClr val="F4A6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7536" y="36118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processes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32520" y="3456432"/>
            <a:ext cx="224028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7112" y="3483864"/>
            <a:ext cx="1911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 · one platform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" y="5321808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is not another tool. It is the connective tissue.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Realista centralizes the complete workflow.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horizontal operating layer for the people, properties, and processes that make an agency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240280"/>
            <a:ext cx="347472" cy="347472"/>
          </a:xfrm>
          <a:prstGeom prst="ellipse">
            <a:avLst/>
          </a:prstGeom>
          <a:solidFill>
            <a:srgbClr val="0F8FC5"/>
          </a:solidFill>
          <a:ln w="12700">
            <a:solidFill>
              <a:srgbClr val="0F8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2448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6736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267004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Clients, pipeline, relationships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05740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240280"/>
            <a:ext cx="347472" cy="347472"/>
          </a:xfrm>
          <a:prstGeom prst="ellipse">
            <a:avLst/>
          </a:prstGeom>
          <a:solidFill>
            <a:srgbClr val="19B67A"/>
          </a:solidFill>
          <a:ln w="12700">
            <a:solidFill>
              <a:srgbClr val="19B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2448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33088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75888" y="267004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documents, incidents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205740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92240" y="2240280"/>
            <a:ext cx="347472" cy="347472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48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267004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Visits, team availability, 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07424" y="205740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08592" y="2240280"/>
            <a:ext cx="347472" cy="34747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22448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65792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08592" y="267004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in context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338328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9536" y="3566160"/>
            <a:ext cx="347472" cy="347472"/>
          </a:xfrm>
          <a:prstGeom prst="ellipse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5707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16736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Preferences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399592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captured early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338328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75888" y="3566160"/>
            <a:ext cx="347472" cy="347472"/>
          </a:xfrm>
          <a:prstGeom prst="ellipse">
            <a:avLst/>
          </a:prstGeom>
          <a:solidFill>
            <a:srgbClr val="E9566A"/>
          </a:solidFill>
          <a:ln w="12700">
            <a:solidFill>
              <a:srgbClr val="E956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75888" y="35707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33088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Matching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75888" y="399592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↔ property fit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91072" y="3383280"/>
            <a:ext cx="248716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92240" y="3566160"/>
            <a:ext cx="347472" cy="34747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5707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Administration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92240" y="3995928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backbone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96528" y="5212080"/>
            <a:ext cx="210312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0" y="523951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Horizontal by design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THE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compounds as context moves with the customer.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layer enriches the next—turning isolated records into an operating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810512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931920" y="1847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70648" y="1938528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0648" y="194310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35040" y="2359152"/>
            <a:ext cx="0" cy="173736"/>
          </a:xfrm>
          <a:prstGeom prst="line">
            <a:avLst/>
          </a:prstGeom>
          <a:noFill/>
          <a:ln w="2286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2560320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25968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Preferences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70648" y="2688336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0648" y="269290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3108960"/>
            <a:ext cx="0" cy="173736"/>
          </a:xfrm>
          <a:prstGeom prst="line">
            <a:avLst/>
          </a:prstGeom>
          <a:noFill/>
          <a:ln w="22860">
            <a:solidFill>
              <a:srgbClr val="19B6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3310128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334670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70648" y="3438144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0648" y="344271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858768"/>
            <a:ext cx="0" cy="173736"/>
          </a:xfrm>
          <a:prstGeom prst="line">
            <a:avLst/>
          </a:prstGeom>
          <a:noFill/>
          <a:ln w="22860">
            <a:solidFill>
              <a:srgbClr val="F4A62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4059936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31920" y="40965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70648" y="4187952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419252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4608576"/>
            <a:ext cx="0" cy="173736"/>
          </a:xfrm>
          <a:prstGeom prst="line">
            <a:avLst/>
          </a:prstGeom>
          <a:noFill/>
          <a:ln w="22860">
            <a:solidFill>
              <a:srgbClr val="7C5CF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57600" y="4809744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31920" y="48463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Management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70648" y="4937760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49423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56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5358384"/>
            <a:ext cx="0" cy="173736"/>
          </a:xfrm>
          <a:prstGeom prst="line">
            <a:avLst/>
          </a:prstGeom>
          <a:noFill/>
          <a:ln w="22860">
            <a:solidFill>
              <a:srgbClr val="E9566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657600" y="5559552"/>
            <a:ext cx="4800600" cy="530352"/>
          </a:xfrm>
          <a:prstGeom prst="roundRect">
            <a:avLst>
              <a:gd name="adj" fmla="val 24138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931920" y="5596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Operations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470648" y="5687568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24435E"/>
          </a:solidFill>
          <a:ln w="12700">
            <a:solidFill>
              <a:srgbClr val="2443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5692140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" y="21488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agency’s data model becomes the agency’s operating model.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04672" y="40416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record. More context. More moments to create value.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CRM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 every client from lead to closing.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relationship layer for the agent’s daily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1792224"/>
            <a:ext cx="4782312" cy="3136392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6" name="Image 0" descr="/home/runner/workspace/attached_assets/image_17596583528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470916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86984" y="1792224"/>
            <a:ext cx="5879592" cy="2706624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8" name="Image 1" descr="/home/runner/workspace/attached_assets/image_17777579847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828800"/>
            <a:ext cx="5806440" cy="2633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6384" y="5102352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" y="51069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806440" y="4736592"/>
            <a:ext cx="1024128" cy="274320"/>
          </a:xfrm>
          <a:prstGeom prst="roundRect">
            <a:avLst>
              <a:gd name="adj" fmla="val 400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806440" y="474116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806440" y="5138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rhythm of the agency lives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PROPERTY MANAGEMENT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inventory is not a database. It is an active workspace.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Property, contract, documents, incidents, communications, history—connected.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5216" y="1737360"/>
            <a:ext cx="6611112" cy="3593592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6" name="Image 0" descr="/home/runner/workspace/attached_assets/image_1770598944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73936"/>
            <a:ext cx="65379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88352" y="1737360"/>
            <a:ext cx="4206240" cy="2505456"/>
          </a:xfrm>
          <a:prstGeom prst="roundRect">
            <a:avLst>
              <a:gd name="adj" fmla="val 438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8" name="Image 1" descr="/home/runner/workspace/attached_assets/image_17706364036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8" y="1773936"/>
            <a:ext cx="4133088" cy="24323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88352" y="4443984"/>
            <a:ext cx="42062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10" name="Image 2" descr="/home/runner/workspace/attached_assets/image_17706364269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4480560"/>
            <a:ext cx="4133088" cy="17373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2960" y="5468112"/>
            <a:ext cx="859536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2960" y="547268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828800" y="5468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listing to lifecycle management.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INTELLIGENT MATCHING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Realista is not just a CRM.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actively connects intent with inventory—so the next best property is already in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971800" cy="3291840"/>
          </a:xfrm>
          <a:prstGeom prst="roundRect">
            <a:avLst>
              <a:gd name="adj" fmla="val 4923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48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intent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724912"/>
            <a:ext cx="221284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3163824"/>
            <a:ext cx="221284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2688" y="3602736"/>
            <a:ext cx="221284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639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" y="4041648"/>
            <a:ext cx="2212848" cy="292608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078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255264"/>
            <a:ext cx="914400" cy="0"/>
          </a:xfrm>
          <a:prstGeom prst="line">
            <a:avLst/>
          </a:prstGeom>
          <a:noFill/>
          <a:ln w="3556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01184" y="2286000"/>
            <a:ext cx="2359152" cy="2395728"/>
          </a:xfrm>
          <a:prstGeom prst="roundRect">
            <a:avLst>
              <a:gd name="adj" fmla="val 6202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26517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layer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193792" y="32461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turns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recommendation.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3255264"/>
            <a:ext cx="868680" cy="0"/>
          </a:xfrm>
          <a:prstGeom prst="line">
            <a:avLst/>
          </a:prstGeom>
          <a:noFill/>
          <a:ln w="3556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421624" y="1792224"/>
            <a:ext cx="3182112" cy="336499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21" name="Image 0" descr="/home/runner/workspace/attached_assets/image_17706363754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828800"/>
            <a:ext cx="3108960" cy="32918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8741664" y="5285232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41664" y="52898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ONE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step is connected inside Realista.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is not in any single screen. It is in the handoff-free journey.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1682496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587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423160" y="2926080"/>
            <a:ext cx="384048" cy="0"/>
          </a:xfrm>
          <a:prstGeom prst="line">
            <a:avLst/>
          </a:prstGeom>
          <a:noFill/>
          <a:ln w="2794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53512" y="2423160"/>
            <a:ext cx="1682496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2587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90872" y="2926080"/>
            <a:ext cx="384048" cy="0"/>
          </a:xfrm>
          <a:prstGeom prst="line">
            <a:avLst/>
          </a:prstGeom>
          <a:noFill/>
          <a:ln w="27940">
            <a:solidFill>
              <a:srgbClr val="19B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1224" y="2423160"/>
            <a:ext cx="1682496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76672" y="2587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A6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76672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958584" y="2926080"/>
            <a:ext cx="384048" cy="0"/>
          </a:xfrm>
          <a:prstGeom prst="line">
            <a:avLst/>
          </a:prstGeom>
          <a:noFill/>
          <a:ln w="27940">
            <a:solidFill>
              <a:srgbClr val="F4A62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88936" y="2423160"/>
            <a:ext cx="1682496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44384" y="2587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44384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226296" y="2926080"/>
            <a:ext cx="384048" cy="0"/>
          </a:xfrm>
          <a:prstGeom prst="line">
            <a:avLst/>
          </a:prstGeom>
          <a:noFill/>
          <a:ln w="27940">
            <a:solidFill>
              <a:srgbClr val="7C5CF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56648" y="2423160"/>
            <a:ext cx="1682496" cy="1005840"/>
          </a:xfrm>
          <a:prstGeom prst="roundRect">
            <a:avLst>
              <a:gd name="adj" fmla="val 12727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12096" y="2587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12096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901952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context switching. No duplicated records. No lost momentum.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822192" y="4892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happens inside Realista.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CRM to Agency Operating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expands across the customer journey—not just the transaction.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0F8FC5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2798064"/>
            <a:ext cx="118872" cy="1216152"/>
          </a:xfrm>
          <a:prstGeom prst="line">
            <a:avLst/>
          </a:prstGeom>
          <a:noFill/>
          <a:ln w="21590">
            <a:solidFill>
              <a:srgbClr val="0F8FC5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06040" y="3703320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19B67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3849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23360" y="4014216"/>
            <a:ext cx="118872" cy="-1216152"/>
          </a:xfrm>
          <a:prstGeom prst="line">
            <a:avLst/>
          </a:prstGeom>
          <a:noFill/>
          <a:ln w="21590">
            <a:solidFill>
              <a:srgbClr val="19B67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26280" y="2487168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F4A62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798064"/>
            <a:ext cx="118872" cy="1216152"/>
          </a:xfrm>
          <a:prstGeom prst="line">
            <a:avLst/>
          </a:prstGeom>
          <a:noFill/>
          <a:ln w="21590">
            <a:solidFill>
              <a:srgbClr val="F4A62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446520" y="3703320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7C5CF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849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63840" y="4014216"/>
            <a:ext cx="118872" cy="-1216152"/>
          </a:xfrm>
          <a:prstGeom prst="line">
            <a:avLst/>
          </a:prstGeom>
          <a:noFill/>
          <a:ln w="21590">
            <a:solidFill>
              <a:srgbClr val="7C5CF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366760" y="2487168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E9566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667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784080" y="2798064"/>
            <a:ext cx="118872" cy="1216152"/>
          </a:xfrm>
          <a:prstGeom prst="line">
            <a:avLst/>
          </a:prstGeom>
          <a:noFill/>
          <a:ln w="21590">
            <a:solidFill>
              <a:srgbClr val="E9566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287000" y="3703320"/>
            <a:ext cx="1417320" cy="621792"/>
          </a:xfrm>
          <a:prstGeom prst="roundRect">
            <a:avLst>
              <a:gd name="adj" fmla="val 20588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287000" y="3849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Post-sale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94560" y="5257800"/>
            <a:ext cx="781812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5285232"/>
            <a:ext cx="748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becomes the distribution layer for the entire home journey.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APPPRO INSIDE REALISTA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AppPro is not replaced. It becomes native.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 is horizontal. AppPro is vertical. Together they cover the journey without context switching.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788920" cy="3977640"/>
          </a:xfrm>
          <a:prstGeom prst="roundRect">
            <a:avLst>
              <a:gd name="adj" fmla="val 5902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2075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9264" y="2670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Calendar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3108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Clients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Messages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Properties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4617720"/>
            <a:ext cx="2286000" cy="603504"/>
          </a:xfrm>
          <a:prstGeom prst="roundRect">
            <a:avLst>
              <a:gd name="adj" fmla="val 18182"/>
            </a:avLst>
          </a:prstGeom>
          <a:solidFill>
            <a:srgbClr val="0F8FC5"/>
          </a:solidFill>
          <a:ln w="10160">
            <a:solidFill>
              <a:srgbClr val="0F8F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  Services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" y="5376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01952" y="5376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8D8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94760" y="3794760"/>
            <a:ext cx="996696" cy="0"/>
          </a:xfrm>
          <a:prstGeom prst="line">
            <a:avLst/>
          </a:prstGeom>
          <a:noFill/>
          <a:ln w="3810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2240280"/>
            <a:ext cx="6263640" cy="3090672"/>
          </a:xfrm>
          <a:prstGeom prst="roundRect">
            <a:avLst>
              <a:gd name="adj" fmla="val 5325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40680" y="26334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Services</a:t>
            </a:r>
            <a:endParaRPr lang="en-US" sz="2500" dirty="0"/>
          </a:p>
        </p:txBody>
      </p:sp>
      <p:sp>
        <p:nvSpPr>
          <p:cNvPr id="18" name="Shape 16"/>
          <p:cNvSpPr/>
          <p:nvPr/>
        </p:nvSpPr>
        <p:spPr>
          <a:xfrm>
            <a:off x="9162288" y="2697480"/>
            <a:ext cx="16916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62288" y="27020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POWERED BY APPPRO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68112" y="33375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client reaches the moving stage, the agent simply opens the Services workspace.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68112" y="424281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68112" y="42976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168896" y="424281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8896" y="42976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69680" y="424281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42976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68112" y="474573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8112" y="4800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68896" y="4745736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EAF6FB"/>
          </a:solidFill>
          <a:ln w="10160">
            <a:solidFill>
              <a:srgbClr val="EAF6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8896" y="4800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68112" y="52303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duplicated client information. No duplicated property information.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FUTURE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Papernest enters before the move—and stays through 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 becomes a moment in a much larger, already-contextualized customer journey.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0F8FC5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07792" y="2157984"/>
            <a:ext cx="512064" cy="0"/>
          </a:xfrm>
          <a:prstGeom prst="line">
            <a:avLst/>
          </a:prstGeom>
          <a:noFill/>
          <a:ln w="2286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02736" y="182880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19B67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2464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created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87568" y="2157984"/>
            <a:ext cx="512064" cy="0"/>
          </a:xfrm>
          <a:prstGeom prst="line">
            <a:avLst/>
          </a:prstGeom>
          <a:noFill/>
          <a:ln w="22860">
            <a:solidFill>
              <a:srgbClr val="19B6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82512" y="182880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F4A62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67344" y="2157984"/>
            <a:ext cx="512064" cy="0"/>
          </a:xfrm>
          <a:prstGeom prst="line">
            <a:avLst/>
          </a:prstGeom>
          <a:noFill/>
          <a:ln w="22860">
            <a:solidFill>
              <a:srgbClr val="F4A62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62288" y="182880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7C5CF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72016" y="199339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296144" y="2157984"/>
            <a:ext cx="438912" cy="0"/>
          </a:xfrm>
          <a:prstGeom prst="line">
            <a:avLst/>
          </a:prstGeom>
          <a:noFill/>
          <a:ln w="22860">
            <a:solidFill>
              <a:srgbClr val="7C5CF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2960" y="338328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E9566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35478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Offer accepted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02736" y="338328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12464" y="35478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detected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82512" y="338328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0F8FC5"/>
          </a:solidFill>
          <a:ln w="10160">
            <a:solidFill>
              <a:srgbClr val="0F8FC5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35478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Services · AppPro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62288" y="3383280"/>
            <a:ext cx="20299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19B67A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72016" y="354787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moved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" y="480060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4805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45536" y="480060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4805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21808" y="480060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4805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480060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4805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74352" y="4800600"/>
            <a:ext cx="150876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48051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84248" y="5559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Papernest becomes part of the complete customer journey.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STRATEGIC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larger platform creates more valuable moments for Papernest.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ways the operating layer compounds the value of AppPro.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578608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103120"/>
            <a:ext cx="347472" cy="347472"/>
          </a:xfrm>
          <a:prstGeom prst="ellipse">
            <a:avLst/>
          </a:prstGeom>
          <a:solidFill>
            <a:srgbClr val="0F8FC5"/>
          </a:solidFill>
          <a:ln w="12700">
            <a:solidFill>
              <a:srgbClr val="0F8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1076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4416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customer acquisition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2532888"/>
            <a:ext cx="21762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from the first agency interaction—not only at move-in.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920240"/>
            <a:ext cx="2578608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03120"/>
            <a:ext cx="347472" cy="347472"/>
          </a:xfrm>
          <a:prstGeom prst="ellipse">
            <a:avLst/>
          </a:prstGeom>
          <a:solidFill>
            <a:srgbClr val="19B67A"/>
          </a:solidFill>
          <a:ln w="12700">
            <a:solidFill>
              <a:srgbClr val="19B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1076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96512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daily engagement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2532888"/>
            <a:ext cx="21762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spend their day inside Realista, where services are one click away.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0488" y="1920240"/>
            <a:ext cx="2578608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1656" y="2103120"/>
            <a:ext cx="347472" cy="347472"/>
          </a:xfrm>
          <a:prstGeom prst="ellipse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21076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48856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 AppPro 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2532888"/>
            <a:ext cx="21762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services become a native workflow, not a separate destination.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42832" y="1920240"/>
            <a:ext cx="2578608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2103120"/>
            <a:ext cx="347472" cy="347472"/>
          </a:xfrm>
          <a:prstGeom prst="ellipse">
            <a:avLst/>
          </a:prstGeom>
          <a:solidFill>
            <a:srgbClr val="7C5CFC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10769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0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customer context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2532888"/>
            <a:ext cx="217627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· location · moving date · property · intent—available earlier.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0" y="5074920"/>
            <a:ext cx="854964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93392" y="5102352"/>
            <a:ext cx="8220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owning the moving moment → to owning the journey that creates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PRODUCT MATURITY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operating system is already in place.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unlock is not rebuilding the foundation—it is activating more value on top of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6132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DCE5EC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938528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893808" y="1929384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3808" y="193395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" y="2221992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78992" y="2295144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 Management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93808" y="2286000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3808" y="22905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51560" y="2578608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78992" y="2651760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93808" y="2642616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93808" y="26471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51560" y="2935224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78992" y="3008376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93808" y="2999232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3808" y="30038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1560" y="3291840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078992" y="3364992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93808" y="335584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33604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3648456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078992" y="3721608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Administration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93808" y="3712464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3808" y="37170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51560" y="4005072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078992" y="4078224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Client–Property Relationship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93808" y="4069080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93808" y="40736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4361688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078992" y="4434840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Workspace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893808" y="4425696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93808" y="443026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51560" y="4718304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1078992" y="4791456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93808" y="4782312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93808" y="47868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51560" y="5074920"/>
            <a:ext cx="10085832" cy="0"/>
          </a:xfrm>
          <a:prstGeom prst="line">
            <a:avLst/>
          </a:prstGeom>
          <a:noFill/>
          <a:ln w="8890">
            <a:solidFill>
              <a:srgbClr val="EEF2F6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078992" y="5148072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893808" y="5138928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1EEFF"/>
          </a:solidFill>
          <a:ln w="12700">
            <a:solidFill>
              <a:srgbClr val="F1EE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93808" y="51435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5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6108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is broad enough for AppPro to land with leverage.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LONG-TERM PLATFORM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operating layer. A wider ecosystem.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618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 owns the workflow; Papernest owns the service moments that follow.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86200" y="1664208"/>
            <a:ext cx="4434840" cy="658368"/>
          </a:xfrm>
          <a:prstGeom prst="roundRect">
            <a:avLst>
              <a:gd name="adj" fmla="val 22222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86200" y="18470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REALISTA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029968" y="272491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9968" y="27294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75888" y="272491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27294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21808" y="272491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7294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67728" y="272491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7728" y="27294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13648" y="2724912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6FB"/>
          </a:solidFill>
          <a:ln w="12700">
            <a:solidFill>
              <a:srgbClr val="EAF6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13648" y="272948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8F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3154680"/>
            <a:ext cx="0" cy="576072"/>
          </a:xfrm>
          <a:prstGeom prst="line">
            <a:avLst/>
          </a:prstGeom>
          <a:noFill/>
          <a:ln w="3302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72384" y="3785616"/>
            <a:ext cx="6053328" cy="713232"/>
          </a:xfrm>
          <a:prstGeom prst="roundRect">
            <a:avLst>
              <a:gd name="adj" fmla="val 20513"/>
            </a:avLst>
          </a:prstGeom>
          <a:solidFill>
            <a:srgbClr val="0F8FC5"/>
          </a:solidFill>
          <a:ln w="10160">
            <a:solidFill>
              <a:srgbClr val="0F8FC5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72384" y="3986784"/>
            <a:ext cx="6053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HOME SERVICES · APPPRO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08192" y="4517136"/>
            <a:ext cx="0" cy="347472"/>
          </a:xfrm>
          <a:prstGeom prst="line">
            <a:avLst/>
          </a:prstGeom>
          <a:noFill/>
          <a:ln w="33020">
            <a:solidFill>
              <a:srgbClr val="0F8FC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00200" y="496519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49697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47288" y="496519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49697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94376" y="496519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94376" y="49697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141464" y="496519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41464" y="49697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88552" y="4965192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E8F8F1"/>
          </a:solidFill>
          <a:ln w="12700">
            <a:solidFill>
              <a:srgbClr val="E8F8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8552" y="49697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B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5687568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33672" y="5715000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Papernest ecosystem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338328"/>
            <a:ext cx="201168" cy="201168"/>
          </a:xfrm>
          <a:prstGeom prst="actionButtonHom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20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21240" y="329184"/>
            <a:ext cx="1417320" cy="274320"/>
          </a:xfrm>
          <a:prstGeom prst="roundRect">
            <a:avLst>
              <a:gd name="adj" fmla="val 40000"/>
            </a:avLst>
          </a:prstGeom>
          <a:solidFill>
            <a:srgbClr val="24435E"/>
          </a:solidFill>
          <a:ln w="12700">
            <a:solidFill>
              <a:srgbClr val="2443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21240" y="3337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2984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Future of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Agency Software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6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 provides the operating system for agencies.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5478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3C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AppPro becomes the native Home Services workspace.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315968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6E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Together, they enable Papernest to own the customer journey from the first property search to post-move services.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95544" y="1078992"/>
            <a:ext cx="5971032" cy="4279392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0160">
            <a:solidFill>
              <a:srgbClr val="24435E"/>
            </a:solidFill>
            <a:prstDash val="solid"/>
          </a:ln>
          <a:effectLst>
            <a:outerShdw sx="100000" sy="100000" kx="0" ky="0" algn="bl" rotWithShape="0" blurRad="25400" dist="50800" dir="2700000">
              <a:srgbClr val="7C8EA3">
                <a:alpha val="12000"/>
              </a:srgbClr>
            </a:outerShdw>
          </a:effectLst>
        </p:spPr>
      </p:sp>
      <p:pic>
        <p:nvPicPr>
          <p:cNvPr id="12" name="Image 0" descr="/home/runner/workspace/exports/realista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15568"/>
            <a:ext cx="5897880" cy="4206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87568" y="5650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3C8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Realista × Papernest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Realista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Realista — The Operating System for Real Estate Agencies</dc:title>
  <dc:subject>Realista x Papernest product strategy</dc:subject>
  <dc:creator>Realista</dc:creator>
  <cp:lastModifiedBy>Realista</cp:lastModifiedBy>
  <cp:revision>1</cp:revision>
  <dcterms:created xsi:type="dcterms:W3CDTF">2026-07-31T15:06:27Z</dcterms:created>
  <dcterms:modified xsi:type="dcterms:W3CDTF">2026-07-31T15:06:27Z</dcterms:modified>
</cp:coreProperties>
</file>